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A63A"/>
          </a:solidFill>
          <a:ln>
            <a:solidFill>
              <a:srgbClr val="E6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09728" cy="4389120"/>
          </a:xfrm>
          <a:prstGeom prst="rect">
            <a:avLst/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6A63A"/>
                </a:solidFill>
                <a:latin typeface="Aptos"/>
              </a:rPr>
              <a:t>GUARDIAN FUNDRAISING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99669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A better way to launch,
track, and fulfill fundraisers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246120"/>
            <a:ext cx="8869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DCE8"/>
                </a:solidFill>
                <a:latin typeface="Aptos"/>
              </a:rPr>
              <a:t>A Wix-based fundraising platform concept for schools, teams, and organizations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4892040"/>
            <a:ext cx="2971800" cy="54864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5056632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ONE CENTRAL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598932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4C8D7"/>
                </a:solidFill>
                <a:latin typeface="Aptos"/>
              </a:rPr>
              <a:t>Meeting pitch deck  |  Initial architecture and rollout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THE CASE FOR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The current process creates avoidable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 storefront works as a basic transaction path—but not as a scalable fundraising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14600"/>
            <a:ext cx="109728" cy="1234440"/>
          </a:xfrm>
          <a:prstGeom prst="rect">
            <a:avLst/>
          </a:prstGeom>
          <a:solidFill>
            <a:srgbClr val="AF4040"/>
          </a:solidFill>
          <a:ln>
            <a:solidFill>
              <a:srgbClr val="AF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1576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Poor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8152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Collection links feel generic and do not clearly communicate the school or campaign.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514600"/>
            <a:ext cx="109728" cy="1234440"/>
          </a:xfrm>
          <a:prstGeom prst="rect">
            <a:avLst/>
          </a:prstGeom>
          <a:solidFill>
            <a:srgbClr val="E6A63A"/>
          </a:solidFill>
          <a:ln>
            <a:solidFill>
              <a:srgbClr val="E6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71576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Weak attribution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308152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Orders cannot reliably identify which school or fundraiser generated the sale.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1480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14800"/>
            <a:ext cx="109728" cy="1234440"/>
          </a:xfrm>
          <a:prstGeom prst="rect">
            <a:avLst/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1596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Manual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8172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Packing lists and Finance spreadsheets require repetitive re-entry.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109728" cy="1234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315968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32D37"/>
                </a:solidFill>
                <a:latin typeface="Aptos"/>
              </a:rPr>
              <a:t>No inventory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681728"/>
            <a:ext cx="4343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C78"/>
                </a:solidFill>
                <a:latin typeface="Aptos"/>
              </a:rPr>
              <a:t>Stock levels, variants, and availability are not managed consistently.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Every fundraiser feels independent—while All Stars manages one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A repeatable campaign model turns each school launch into a configuration task, not a custom website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755648" cy="1828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29443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30449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5661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7"/>
                </a:solidFill>
                <a:latin typeface="Aptos"/>
              </a:rPr>
              <a:t>Unique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4005072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Supporter enters the school campaign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1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743200"/>
            <a:ext cx="1755648" cy="1828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90672" y="29443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30449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5661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7"/>
                </a:solidFill>
                <a:latin typeface="Aptos"/>
              </a:rPr>
              <a:t>Campaign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4005072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Only approved products appear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743200"/>
            <a:ext cx="1755648" cy="1828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76672" y="29443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30449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5661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7"/>
                </a:solidFill>
                <a:latin typeface="Aptos"/>
              </a:rPr>
              <a:t>Tracked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4005072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Campaign ID follows the purchase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743200"/>
            <a:ext cx="1755648" cy="1828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62671" y="29443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1" y="30449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35661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7"/>
                </a:solidFill>
                <a:latin typeface="Aptos"/>
              </a:rPr>
              <a:t>Fulfillment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4005072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Direct or bulk shipping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1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2743200"/>
            <a:ext cx="1755648" cy="1828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48672" y="29443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304495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48672" y="356616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32D37"/>
                </a:solidFill>
                <a:latin typeface="Aptos"/>
              </a:rPr>
              <a:t>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4005072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Finance and payout exports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Build on the Wix site Guardian already 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ED2E1"/>
                </a:solidFill>
                <a:latin typeface="Aptos"/>
              </a:rPr>
              <a:t>Use native Wix capabilities first, then add Velo only where the business requires custom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41448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Wix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441448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Brand, responsive page design, fundraising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90087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99815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Wix CMS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099815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Fundraisers, campaign settings, product assignments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48456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58183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Wix Stores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58183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Products, variants, cart, checkout, payments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06824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16552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416552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Attribution, cart rules, shipping mode, reporting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65192"/>
            <a:ext cx="1828800" cy="411480"/>
          </a:xfrm>
          <a:prstGeom prst="roundRect">
            <a:avLst>
              <a:gd name="adj" fmla="val 8000"/>
            </a:avLst>
          </a:prstGeom>
          <a:solidFill>
            <a:srgbClr val="E6A63A"/>
          </a:solidFill>
          <a:ln>
            <a:solidFill>
              <a:srgbClr val="E6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074920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0233A"/>
                </a:solidFill>
                <a:latin typeface="Aptos"/>
              </a:rPr>
              <a:t>Google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074920"/>
            <a:ext cx="8046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AE6F0"/>
                </a:solidFill>
                <a:latin typeface="Aptos"/>
              </a:rPr>
              <a:t>Email, Finance exports, operational 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One reusable fundraiser page, generated from campaign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 page design is built once. Each new school gets a branded page through CMS data and product assignment.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23160"/>
            <a:ext cx="365760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Aptos"/>
              </a:rPr>
              <a:t>TEXAS JR ALL-STARS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32D37"/>
                </a:solidFill>
                <a:latin typeface="Aptos"/>
              </a:rPr>
              <a:t>Music fundraiser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0332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Support your school. Choose products.
Select delivery. Complete checkout.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61772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36592"/>
            <a:ext cx="14630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SHOP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70662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4648" y="2606040"/>
            <a:ext cx="5742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Unique campaign URL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320954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3108960"/>
            <a:ext cx="5742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School-specific branding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371246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3611880"/>
            <a:ext cx="5742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Only assigned 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421538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4114800"/>
            <a:ext cx="5742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Mobile-first checkout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471830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4617720"/>
            <a:ext cx="57424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32D37"/>
                </a:solidFill>
                <a:latin typeface="Aptos"/>
              </a:rPr>
              <a:t>No public campaign directory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CRITICAL DESIGN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Campaign attribution must survive the entire order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 most important technical requirement is not the page—it is reliably crediting the correct school.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Campaign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TXJRA-2026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33101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Campaign context retained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33101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One campaign per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33101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Shipping mode captured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33101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5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5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Attribution stored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3101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A7E8C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59567" y="303580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Aptos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9567" y="3493008"/>
            <a:ext cx="1280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32D37"/>
                </a:solidFill>
                <a:latin typeface="Aptos"/>
              </a:rPr>
              <a:t>Finance-ready export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5074920"/>
            <a:ext cx="8823960" cy="530352"/>
          </a:xfrm>
          <a:prstGeom prst="roundRect">
            <a:avLst>
              <a:gd name="adj" fmla="val 8000"/>
            </a:avLst>
          </a:prstGeom>
          <a:solidFill>
            <a:srgbClr val="10233A"/>
          </a:solidFill>
          <a:ln>
            <a:solidFill>
              <a:srgbClr val="10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19" y="5248656"/>
            <a:ext cx="8458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If attribution fails, reporting, fulfillment, and school payouts fail with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Replace print-and-rekey work with structured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 system should produce the operational views staff actually need—not just a list of orders.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06040"/>
            <a:ext cx="3246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606040"/>
            <a:ext cx="3246120" cy="137160"/>
          </a:xfrm>
          <a:prstGeom prst="rect">
            <a:avLst/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971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D37"/>
                </a:solidFill>
                <a:latin typeface="Aptos"/>
              </a:rPr>
              <a:t>Direct shipping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520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C78"/>
                </a:solidFill>
                <a:latin typeface="Aptos"/>
              </a:rPr>
              <a:t>Customer address
Shipping charge
Individual fulfillment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606040"/>
            <a:ext cx="3246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606040"/>
            <a:ext cx="3246120" cy="137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2971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D37"/>
                </a:solidFill>
                <a:latin typeface="Aptos"/>
              </a:rPr>
              <a:t>Bulk shipping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3520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C78"/>
                </a:solidFill>
                <a:latin typeface="Aptos"/>
              </a:rPr>
              <a:t>Campaign grouping
Product totals
School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606040"/>
            <a:ext cx="32461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2606040"/>
            <a:ext cx="3246120" cy="137160"/>
          </a:xfrm>
          <a:prstGeom prst="rect">
            <a:avLst/>
          </a:prstGeom>
          <a:solidFill>
            <a:srgbClr val="E6A63A"/>
          </a:solidFill>
          <a:ln>
            <a:solidFill>
              <a:srgbClr val="E6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2971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2D37"/>
                </a:solidFill>
                <a:latin typeface="Aptos"/>
              </a:rPr>
              <a:t>Finance &amp; payout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3520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C78"/>
                </a:solidFill>
                <a:latin typeface="Aptos"/>
              </a:rPr>
              <a:t>Gross sales
Refunds and fees
Fundraiser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ptos"/>
              </a:rPr>
              <a:t>Core export fields: campaign • school • order • customer • product • variant • quantity • shipping method • status • payout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Pilot first. Scale second.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Prove the complete operating loop with one campaign before adding more schools.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706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6334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9900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Confirm Wix site, payment, DNS, email, and business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4231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26517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7706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6334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Data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9900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Create Fundraisers and CampaignProducts CMS collections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4231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26517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7706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26334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9900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Build the dynamic page and campaign-specific product display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2519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708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2336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5902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Validate attribution, cart rules, shipping, and exports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0233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09160" y="42519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43708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7528" y="42336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5902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Run one complete campaign with real operational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023360"/>
            <a:ext cx="3246120" cy="11430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03920" y="425196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37083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2288" y="42336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2D37"/>
                </a:solidFill>
                <a:latin typeface="Aptos"/>
              </a:rPr>
              <a:t>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4590288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6C78"/>
                </a:solidFill>
                <a:latin typeface="Aptos"/>
              </a:rPr>
              <a:t>Launch repeatable staff workflow for new fundraisers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MEETING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32D37"/>
                </a:solidFill>
                <a:latin typeface="Aptos"/>
              </a:rPr>
              <a:t>What must be decided before build begins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C78"/>
                </a:solidFill>
                <a:latin typeface="Aptos"/>
              </a:rPr>
              <a:t>These choices affect the data model, checkout logic, reporting, and launch timeline.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2374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423160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Which existing Wix site owns the fundraising section?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54096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953512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Are active campaigns direct-link-only or publicly listed?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84448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483864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Will customers choose direct shipping, bulk shipping, or both?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14800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014215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What is the fundraiser payout formula?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45152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44568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Is inventory shared or reserved by campaign?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175504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5074920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Who owns refunds, chargebacks, and customer support?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705856"/>
            <a:ext cx="82296" cy="82296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5605272"/>
            <a:ext cx="9674352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32D37"/>
                </a:solidFill>
                <a:latin typeface="Aptos"/>
              </a:rPr>
              <a:t>Who approves the pilot for production launch?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A63A"/>
                </a:solidFill>
                <a:latin typeface="Aptos"/>
              </a:rP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Wix is a strong fit—if attribution and operations are designed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6420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ED2E1"/>
                </a:solidFill>
                <a:latin typeface="Aptos"/>
              </a:rPr>
              <a:t>The recommendation is to integrate fundraising into the existing Guardian Wix presence, not create a separate website for every school.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10332720" cy="2011680"/>
          </a:xfrm>
          <a:prstGeom prst="roundRect">
            <a:avLst>
              <a:gd name="adj" fmla="val 8000"/>
            </a:avLst>
          </a:prstGeom>
          <a:solidFill>
            <a:srgbClr val="1A7E8C"/>
          </a:solidFill>
          <a:ln>
            <a:solidFill>
              <a:srgbClr val="1A7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3063240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Build once. Launch repeatedly.
Track every order. Fulfill with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5257800"/>
            <a:ext cx="9418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CE8F0"/>
                </a:solidFill>
                <a:latin typeface="Aptos"/>
              </a:rPr>
              <a:t>Next step: approve the architecture and build one end-to-end pilot fundraiser.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F6C78"/>
                </a:solidFill>
                <a:latin typeface="Aptos"/>
              </a:rPr>
              <a:t>GUARDIAN FUNDRAISING  •  WIX PLATFORM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F6C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